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86384"/>
            <a:ext cx="42014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Behavior Analysis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2379464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data-driven exploration of e-commerce purchasing patterns, customer segmentation, and revenue optimization strategies — powered by Python, SQL, and Power BI.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119140"/>
            <a:ext cx="1024012" cy="233214"/>
          </a:xfrm>
          <a:prstGeom prst="roundRect">
            <a:avLst>
              <a:gd name="adj" fmla="val 17872"/>
            </a:avLst>
          </a:prstGeom>
          <a:solidFill>
            <a:srgbClr val="1C113B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156347"/>
            <a:ext cx="87518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AMAN MISHRA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011117" y="3114377"/>
            <a:ext cx="1435001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90294" y="3156347"/>
            <a:ext cx="127664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ANALYTICS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805"/>
            <a:ext cx="32562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About the Dataset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40687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analysis is built on a structured e-commerce dataset covering 5,000 customers across 17 variables — combining numerical metrics with categorical attributes to support behavioral analysis and business decision-making.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943323"/>
            <a:ext cx="4103191" cy="2448297"/>
          </a:xfrm>
          <a:prstGeom prst="roundRect">
            <a:avLst>
              <a:gd name="adj" fmla="val 3648"/>
            </a:avLst>
          </a:prstGeom>
          <a:solidFill>
            <a:srgbClr val="876CD4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06729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Profile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0796" y="2394793"/>
            <a:ext cx="3855244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E-Commerce Tabular Data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Records: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5,000 customers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Columns: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17 attributes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Numerical: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Purchase Amount, Previous Purchases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Categorical: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Category, Payment Method, Season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067297"/>
            <a:ext cx="170557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This Data Matters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28046" y="2394793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dataset enables businesses to identify high-value customers, understand purchase patterns, optimize discount strategies, improve marketing campaigns, and increase customer lifetime value (CLV).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3328169"/>
            <a:ext cx="3924598" cy="923925"/>
          </a:xfrm>
          <a:prstGeom prst="roundRect">
            <a:avLst>
              <a:gd name="adj" fmla="val 5639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517478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0998" y="3483099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mix of numerical and categorical data supports both statistical modeling and segmentation analysis — essential for e-commerce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479"/>
            <a:ext cx="331685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Business Problem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0854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an e-commerce company understand customer purchasing behavior to increase revenue, improve retention, and optimize marketing strategies? Six interconnected challenges define the analytical scope.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44997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77373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Retention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4855" y="2051670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are not purchasing frequently. Need to distinguish frequent buyers from one-time purchasers.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644997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723" y="177373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Ineffective Marketing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2723" y="2051670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and promo codes may not be working. Do discounts actually increase purchase value?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701305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283004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Demand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4855" y="3107978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categories perform best? Which products generate the highest revenue?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2701305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723" y="283004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 Behavior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2723" y="3107978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payment methods are preferred? Are digital payments on the rise?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757613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855" y="388634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Seasonal Variation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855" y="4164285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season impact sales? Which season drives the maximum number of purchases?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3987" y="3757613"/>
            <a:ext cx="4013895" cy="932334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723" y="3886349"/>
            <a:ext cx="180439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62723" y="4164285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high-value customers, frequent buyers, and discount-sensitive segments.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6855"/>
            <a:ext cx="2493020" cy="3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Dictionary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27336" y="773832"/>
            <a:ext cx="7489254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spans 17 columns capturing customer demographics, transaction details, product attributes, and behavioral signals — enabling rich multi-dimensional analysis.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27336" y="1123801"/>
            <a:ext cx="7489254" cy="3702844"/>
          </a:xfrm>
          <a:prstGeom prst="roundRect">
            <a:avLst>
              <a:gd name="adj" fmla="val 107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098" y="1128564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27125" y="1176933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9383" y="1176933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customer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32098" y="1359396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27125" y="1407765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/ Gender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99383" y="1407765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age and gender (Male / Female / Other)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32098" y="1590229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27125" y="1638598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Purchased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99383" y="1638598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product purchased by the customer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32098" y="1821061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27125" y="1869430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99383" y="1869430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category: Clothing, Electronics, Accessories, Footwear, Outerwear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32098" y="2051893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27125" y="2100263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Amount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99383" y="2100263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amount spent by the customer in USD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32098" y="2282726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7125" y="2331095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99383" y="2331095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Customer's geographic location (state)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32098" y="2513558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27125" y="2561927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/ Color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99383" y="2561927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size (S, M, L, XL) and color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32098" y="2744391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27125" y="2792760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99383" y="2792760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of purchase: Winter, Spring, Summer, Fall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32098" y="2975223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27125" y="3023592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99383" y="3023592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rating for the product (1–5 scale)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32098" y="3206055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7125" y="3254425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99383" y="3254425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customer is subscribed (Yes / No)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2098" y="3436888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27125" y="3485257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Type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99383" y="3485257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of shipping selected (Standard, Express, etc.)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2098" y="3667720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27125" y="3716089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Applied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99383" y="3716089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a discount was applied to the order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32098" y="3898553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27125" y="3946922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Code Used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799383" y="3946922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a promo code was used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32098" y="4129385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27125" y="4177754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Purchases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799383" y="4177754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past purchases made by the customer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32098" y="4360218"/>
            <a:ext cx="7479729" cy="2308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27125" y="4408587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Method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99383" y="4408587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of payment: Cash, Credit Card, Debit Card, PayPal, etc.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32098" y="4591050"/>
            <a:ext cx="7479729" cy="2308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7125" y="4639419"/>
            <a:ext cx="167759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of Purchases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799383" y="4639419"/>
            <a:ext cx="54174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frequency: Weekly, Monthly, etc.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30473"/>
            <a:ext cx="4893320" cy="674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— Exploratory Data Analysis in Python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839840" y="1132210"/>
            <a:ext cx="489332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phase of analysis used Python and pandas to load, explore, and understand the raw data before any modeling or SQL queries were applied.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839840" y="1528242"/>
            <a:ext cx="4893320" cy="758577"/>
          </a:xfrm>
          <a:prstGeom prst="roundRect">
            <a:avLst>
              <a:gd name="adj" fmla="val 9041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553" y="1528242"/>
            <a:ext cx="57150" cy="7585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99681" y="1645221"/>
            <a:ext cx="1348234" cy="168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999681" y="1864742"/>
            <a:ext cx="4616500" cy="30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pandas and loaded the CSV into a structured DataFrame using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enabling further transformations and analysis.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839840" y="2371874"/>
            <a:ext cx="4893320" cy="758577"/>
          </a:xfrm>
          <a:prstGeom prst="roundRect">
            <a:avLst>
              <a:gd name="adj" fmla="val 9041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553" y="2371874"/>
            <a:ext cx="57150" cy="7585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99681" y="2488853"/>
            <a:ext cx="1348234" cy="168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Initial Exploration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999681" y="2708374"/>
            <a:ext cx="4616500" cy="30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df.describe(include='all')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understand data structure, types, and missing value patterns early.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3839840" y="3215506"/>
            <a:ext cx="4893320" cy="753814"/>
          </a:xfrm>
          <a:prstGeom prst="roundRect">
            <a:avLst>
              <a:gd name="adj" fmla="val 9098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553" y="3215506"/>
            <a:ext cx="57150" cy="753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99681" y="3332485"/>
            <a:ext cx="1348234" cy="168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Correction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3999681" y="3552006"/>
            <a:ext cx="461650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inconsistencies between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Purchased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columns. Created a mapping dictionary to standardize categories for accurate grouping and insights.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3839840" y="4054376"/>
            <a:ext cx="4893320" cy="758577"/>
          </a:xfrm>
          <a:prstGeom prst="roundRect">
            <a:avLst>
              <a:gd name="adj" fmla="val 9041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553" y="4054376"/>
            <a:ext cx="57150" cy="75857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99681" y="4171355"/>
            <a:ext cx="1523033" cy="168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Column Standardization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3999681" y="4390876"/>
            <a:ext cx="4616500" cy="30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all columns to lowercase with underscores using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str.replace(" ", "_")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str.lower()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making them SQL-friendly and Power BI-ready.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45430"/>
            <a:ext cx="5447184" cy="38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Handling Missing Values &amp; Duplicates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2901" y="958676"/>
            <a:ext cx="8198197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were addressed with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category-specific business logic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blanket imputation — demonstrating domain understanding and ensuring analytical accuracy.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901" y="1454795"/>
            <a:ext cx="295573" cy="2955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901" y="1891159"/>
            <a:ext cx="155175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Size Column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2901" y="2152650"/>
            <a:ext cx="40287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 &amp; Accessories →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 size). Clothing → filled with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Footwear →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Size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Category-aware logic preserves data integrity.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396" y="1454795"/>
            <a:ext cx="295573" cy="2955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2396" y="1891159"/>
            <a:ext cx="155175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Rating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2396" y="2152650"/>
            <a:ext cx="402870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ratings were imputed using the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product-level mean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(rounded), not the global average — keeping ratings realistic and meaningful for analysis.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901" y="2932063"/>
            <a:ext cx="295573" cy="2955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901" y="3368427"/>
            <a:ext cx="155175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 Amount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72901" y="3629918"/>
            <a:ext cx="40287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replaced with the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value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maintain product-level pricing consistency and avoid distortion in revenue calculations.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396" y="2932063"/>
            <a:ext cx="295573" cy="2955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2396" y="3368427"/>
            <a:ext cx="155175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Previous Purchases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2396" y="3629918"/>
            <a:ext cx="40287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replaced with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logically representing customers with no purchase history, critical for segmentation and loyalty analysis.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2901" y="4126037"/>
            <a:ext cx="8198197" cy="672033"/>
          </a:xfrm>
          <a:prstGeom prst="roundRect">
            <a:avLst>
              <a:gd name="adj" fmla="val 7389"/>
            </a:avLst>
          </a:prstGeom>
          <a:solidFill>
            <a:srgbClr val="1C113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071" y="4303663"/>
            <a:ext cx="147786" cy="1181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7027" y="4268242"/>
            <a:ext cx="769590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were identified using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removed to ensure each customer appears only once — critical for accurate reporting and segmentation.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28315"/>
            <a:ext cx="5173340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Analysis — Revenue &amp; Discounts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65162" y="927869"/>
            <a:ext cx="8213675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cleaning, data was exported to SQL Server for query-based analysis. Key findings on revenue drivers, discount effectiveness, and customer spending patterns emerged.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5162" y="1519982"/>
            <a:ext cx="186690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Revenue Ranking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833339"/>
            <a:ext cx="3965004" cy="2220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5162" y="4176340"/>
            <a:ext cx="396500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 dominates revenue at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$486K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nearly double the next category. Outerwear contributes the least at just $20K.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18596" y="1519982"/>
            <a:ext cx="24859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 Impact on Purchase Value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596" y="1833339"/>
            <a:ext cx="3965004" cy="22203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18596" y="4176340"/>
            <a:ext cx="3965004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total revenue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 increase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order value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~20% ($182 → $219). Discounts drive larger baskets but may erode margins.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283369"/>
            <a:ext cx="5978426" cy="3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Analysis — Customer Segments &amp; Subscriptions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27336" y="740346"/>
            <a:ext cx="7489254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 by purchase frequency and subscription status reveals clear spending patterns — loyal and subscribed customers consistently outspend others.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7336" y="1163017"/>
            <a:ext cx="2310929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Segments by Purchase History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400547"/>
            <a:ext cx="3628727" cy="20320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336" y="3514353"/>
            <a:ext cx="3628727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customers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(61.7% of base) represent the largest segment. New customers are the smallest group — a growth opportunity.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92551" y="1163017"/>
            <a:ext cx="1866602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Status vs. Spending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51" y="1400547"/>
            <a:ext cx="3628727" cy="2032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2551" y="3514353"/>
            <a:ext cx="3628727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spend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 more per transaction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($271 vs. $166). Repeat buyers are less likely to subscribe (30%) vs. normal buyers (37%) — an untapped conversion opportunity.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827336" y="4111303"/>
            <a:ext cx="2435796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3,085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1421978" y="4526682"/>
            <a:ext cx="1246510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27336" y="4726037"/>
            <a:ext cx="243579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61.7% of total customer base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3353991" y="4111303"/>
            <a:ext cx="243587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$271</a:t>
            </a:r>
            <a:endParaRPr lang="en-US" sz="2450" dirty="0"/>
          </a:p>
        </p:txBody>
      </p:sp>
      <p:sp>
        <p:nvSpPr>
          <p:cNvPr id="14" name="Text 10"/>
          <p:cNvSpPr/>
          <p:nvPr/>
        </p:nvSpPr>
        <p:spPr>
          <a:xfrm>
            <a:off x="3936578" y="4526682"/>
            <a:ext cx="1270620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 Avg. Spend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353991" y="4726037"/>
            <a:ext cx="24358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 higher than non-subscribers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880720" y="4111303"/>
            <a:ext cx="243587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450" dirty="0"/>
          </a:p>
        </p:txBody>
      </p:sp>
      <p:sp>
        <p:nvSpPr>
          <p:cNvPr id="17" name="Text 13"/>
          <p:cNvSpPr/>
          <p:nvPr/>
        </p:nvSpPr>
        <p:spPr>
          <a:xfrm>
            <a:off x="6340153" y="4526682"/>
            <a:ext cx="1517005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 Buyer Subscription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80720" y="4726037"/>
            <a:ext cx="24358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 among loyal customers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18281"/>
            <a:ext cx="5771480" cy="3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 — Key Visual Insights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57349" y="1004292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cleaned dataset was visualized in Power BI with interactive filters for Category, Gender, Discount, and Subscription — enabling drill-down exploration across all dimensions.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040" y="1549078"/>
            <a:ext cx="1372195" cy="137219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690" y="1549078"/>
            <a:ext cx="1372195" cy="137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349" y="3114377"/>
            <a:ext cx="4061966" cy="664815"/>
          </a:xfrm>
          <a:prstGeom prst="roundRect">
            <a:avLst>
              <a:gd name="adj" fmla="val 722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411" y="3233440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76411" y="3484290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$391K (39.3%)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Male: $352K (35.4%) · Female: $251K (25.3%)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24685" y="3114377"/>
            <a:ext cx="4061966" cy="664815"/>
          </a:xfrm>
          <a:prstGeom prst="roundRect">
            <a:avLst>
              <a:gd name="adj" fmla="val 722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43748" y="3233440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743748" y="3484290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51+: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$399K (40.2%)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35–50: $267K · 26–35: $177K · 18–25: $151K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349" y="3884563"/>
            <a:ext cx="4061966" cy="840656"/>
          </a:xfrm>
          <a:prstGeom prst="roundRect">
            <a:avLst>
              <a:gd name="adj" fmla="val 5713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411" y="4003625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76411" y="4254475"/>
            <a:ext cx="382384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Headphones: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$138.9K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Phone: $125.6K · Bag: $120.7K · Laptop: $115.2K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24685" y="3884563"/>
            <a:ext cx="4061966" cy="840656"/>
          </a:xfrm>
          <a:prstGeom prst="roundRect">
            <a:avLst>
              <a:gd name="adj" fmla="val 5713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43748" y="4003625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 Methods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743748" y="4254475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Debit Card: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25.5%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Cash: 23.5% · Credit Card: 22.5% · PayPal: 20.9%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4256"/>
            <a:ext cx="53825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 &amp; Recommendations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48932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end-to-end analysis — from Python EDA to SQL queries to Power BI dashboards — delivers actionable insights for growing revenue, improving retention, and optimizing marketing spend.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2577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7976" y="2043224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9145" y="2068413"/>
            <a:ext cx="252338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Electronics Is the Revenue Engine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9145" y="2346350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 generates nearly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$486K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double any other category. Prioritize inventory, promotions, and marketing budget toward this segment.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49465" y="202577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1323" y="2043224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52492" y="2068413"/>
            <a:ext cx="290415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 Are High-Value Customers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52492" y="2346350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spend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 more per transaction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Launch targeted subscription conversion campaigns, especially for repeat buyers (only 30% subscribed).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18975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976" y="3207209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9145" y="3232398"/>
            <a:ext cx="3595315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Increase Basket Size, Not Total Revenue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9145" y="3713857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Discounted orders have a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average value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($219 vs. $182) but lower total revenue. Use discounts strategically to upsell, not blanket promotions.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9465" y="318975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1323" y="3207209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52492" y="3232398"/>
            <a:ext cx="306012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Older Customers Drive the Most Revenue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52492" y="3510335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51+ age group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contributes 40% of total revenue. Tailor messaging, product recommendations, and loyalty programs to this high-value demographic.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2026-05-15T13:54:01Z</dcterms:created>
  <dcterms:modified xsi:type="dcterms:W3CDTF">2026-05-15T13:54:01Z</dcterms:modified>
</cp:coreProperties>
</file>