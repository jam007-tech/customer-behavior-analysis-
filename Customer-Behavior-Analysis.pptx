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embeddedFontLst>
    <p:embeddedFont>
      <p:font typeface="Consolas" panose="020B0609020204030204" pitchFamily="49" charset="0"/>
      <p:regular r:id="rId13"/>
      <p:bold r:id="rId14"/>
      <p:italic r:id="rId15"/>
      <p:boldItalic r:id="rId16"/>
    </p:embeddedFont>
    <p:embeddedFont>
      <p:font typeface="Inter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6475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9" y="1786384"/>
            <a:ext cx="4201418" cy="407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55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Customer Behavior Analysis</a:t>
            </a:r>
            <a:endParaRPr lang="en-US" sz="2550" dirty="0"/>
          </a:p>
        </p:txBody>
      </p:sp>
      <p:sp>
        <p:nvSpPr>
          <p:cNvPr id="4" name="Text 1"/>
          <p:cNvSpPr/>
          <p:nvPr/>
        </p:nvSpPr>
        <p:spPr>
          <a:xfrm>
            <a:off x="3925119" y="2379464"/>
            <a:ext cx="4722763" cy="595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comprehensive data-driven exploration of e-commerce purchasing patterns, customer segmentation, and revenue optimization strategies — powered by Python, SQL, and Power BI.</a:t>
            </a:r>
            <a:endParaRPr lang="en-US" sz="950" dirty="0"/>
          </a:p>
        </p:txBody>
      </p:sp>
      <p:sp>
        <p:nvSpPr>
          <p:cNvPr id="5" name="Shape 2"/>
          <p:cNvSpPr/>
          <p:nvPr/>
        </p:nvSpPr>
        <p:spPr>
          <a:xfrm>
            <a:off x="3925119" y="3119140"/>
            <a:ext cx="1024012" cy="233214"/>
          </a:xfrm>
          <a:prstGeom prst="roundRect">
            <a:avLst>
              <a:gd name="adj" fmla="val 17872"/>
            </a:avLst>
          </a:prstGeom>
          <a:solidFill>
            <a:srgbClr val="1C113B"/>
          </a:solidFill>
          <a:ln/>
        </p:spPr>
      </p:sp>
      <p:sp>
        <p:nvSpPr>
          <p:cNvPr id="6" name="Text 3"/>
          <p:cNvSpPr/>
          <p:nvPr/>
        </p:nvSpPr>
        <p:spPr>
          <a:xfrm>
            <a:off x="3999533" y="3156347"/>
            <a:ext cx="875184" cy="158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AMAN MISHRA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011117" y="3114377"/>
            <a:ext cx="1435001" cy="242739"/>
          </a:xfrm>
          <a:prstGeom prst="roundRect">
            <a:avLst>
              <a:gd name="adj" fmla="val 17171"/>
            </a:avLst>
          </a:prstGeom>
          <a:noFill/>
          <a:ln w="4763">
            <a:solidFill>
              <a:srgbClr val="876CD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90294" y="3156347"/>
            <a:ext cx="1276648" cy="158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750" dirty="0">
                <a:solidFill>
                  <a:srgbClr val="876C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E-COMMERCE ANALYTICS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751805"/>
            <a:ext cx="3256211" cy="407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55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About the Dataset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496119" y="1406872"/>
            <a:ext cx="8151763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analysis is built on a structured e-commerce dataset covering 5,000 customers across 17 variables — combining numerical metrics with categorical attributes to support behavioral analysis and business decision-making.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06822" y="1943323"/>
            <a:ext cx="4103191" cy="2448297"/>
          </a:xfrm>
          <a:prstGeom prst="roundRect">
            <a:avLst>
              <a:gd name="adj" fmla="val 3648"/>
            </a:avLst>
          </a:prstGeom>
          <a:solidFill>
            <a:srgbClr val="876CD4">
              <a:alpha val="9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30796" y="2067297"/>
            <a:ext cx="1628105" cy="203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Dataset Profile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30796" y="2394793"/>
            <a:ext cx="3855244" cy="1165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550"/>
              </a:lnSpc>
              <a:buSzPct val="100000"/>
              <a:buChar char="•"/>
            </a:pPr>
            <a:r>
              <a:rPr lang="en-US" sz="95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Type:</a:t>
            </a:r>
            <a:r>
              <a:rPr lang="en-US" sz="9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E-Commerce Tabular Data</a:t>
            </a:r>
            <a:endParaRPr lang="en-US" sz="950" dirty="0"/>
          </a:p>
          <a:p>
            <a:pPr marL="342900" indent="-342900" algn="l">
              <a:lnSpc>
                <a:spcPts val="1550"/>
              </a:lnSpc>
              <a:buSzPct val="100000"/>
              <a:buChar char="•"/>
            </a:pPr>
            <a:r>
              <a:rPr lang="en-US" sz="95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Records:</a:t>
            </a:r>
            <a:r>
              <a:rPr lang="en-US" sz="9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5,000 customers</a:t>
            </a:r>
            <a:endParaRPr lang="en-US" sz="950" dirty="0"/>
          </a:p>
          <a:p>
            <a:pPr marL="342900" indent="-342900" algn="l">
              <a:lnSpc>
                <a:spcPts val="1550"/>
              </a:lnSpc>
              <a:buSzPct val="100000"/>
              <a:buChar char="•"/>
            </a:pPr>
            <a:r>
              <a:rPr lang="en-US" sz="95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Columns:</a:t>
            </a:r>
            <a:r>
              <a:rPr lang="en-US" sz="9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17 attributes</a:t>
            </a:r>
            <a:endParaRPr lang="en-US" sz="950" dirty="0"/>
          </a:p>
          <a:p>
            <a:pPr marL="342900" indent="-342900" algn="l">
              <a:lnSpc>
                <a:spcPts val="1550"/>
              </a:lnSpc>
              <a:buSzPct val="100000"/>
              <a:buChar char="•"/>
            </a:pPr>
            <a:r>
              <a:rPr lang="en-US" sz="95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Numerical:</a:t>
            </a:r>
            <a:r>
              <a:rPr lang="en-US" sz="9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Age, Purchase Amount, Previous Purchases</a:t>
            </a:r>
            <a:endParaRPr lang="en-US" sz="950" dirty="0"/>
          </a:p>
          <a:p>
            <a:pPr marL="342900" indent="-342900" algn="l">
              <a:lnSpc>
                <a:spcPts val="1550"/>
              </a:lnSpc>
              <a:buSzPct val="100000"/>
              <a:buChar char="•"/>
            </a:pPr>
            <a:r>
              <a:rPr lang="en-US" sz="95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Categorical:</a:t>
            </a:r>
            <a:r>
              <a:rPr lang="en-US" sz="9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Category, Payment Method, Season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728046" y="2067297"/>
            <a:ext cx="1705570" cy="203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Why This Data Matters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728046" y="2394793"/>
            <a:ext cx="3924598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dataset enables businesses to identify high-value customers, understand purchase patterns, optimize discount strategies, improve marketing campaigns, and increase customer lifetime value (CLV).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28046" y="3328169"/>
            <a:ext cx="3924598" cy="923925"/>
          </a:xfrm>
          <a:prstGeom prst="roundRect">
            <a:avLst>
              <a:gd name="adj" fmla="val 5639"/>
            </a:avLst>
          </a:prstGeom>
          <a:solidFill>
            <a:srgbClr val="022349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2020" y="3517478"/>
            <a:ext cx="155004" cy="12397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130998" y="3483099"/>
            <a:ext cx="3397672" cy="595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mix of numerical and categorical data supports both statistical modeling and segmentation analysis — essential for e-commerce decision-making.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53479"/>
            <a:ext cx="3316858" cy="407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55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The Business Problem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496119" y="1108546"/>
            <a:ext cx="8151763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can an e-commerce company understand customer purchasing behavior to increase revenue, improve retention, and optimize marketing strategies? Six interconnected challenges define the analytical scope.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96119" y="1644997"/>
            <a:ext cx="4013895" cy="932334"/>
          </a:xfrm>
          <a:prstGeom prst="roundRect">
            <a:avLst>
              <a:gd name="adj" fmla="val 5588"/>
            </a:avLst>
          </a:prstGeom>
          <a:solidFill>
            <a:srgbClr val="2F1D63"/>
          </a:solidFill>
          <a:ln w="4763">
            <a:solidFill>
              <a:srgbClr val="48367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4855" y="1773734"/>
            <a:ext cx="1628105" cy="203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Low Retention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24855" y="2051670"/>
            <a:ext cx="3756422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Customers are not purchasing frequently. Need to distinguish frequent buyers from one-time purchasers.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633987" y="1644997"/>
            <a:ext cx="4013895" cy="932334"/>
          </a:xfrm>
          <a:prstGeom prst="roundRect">
            <a:avLst>
              <a:gd name="adj" fmla="val 5588"/>
            </a:avLst>
          </a:prstGeom>
          <a:solidFill>
            <a:srgbClr val="2F1D63"/>
          </a:solidFill>
          <a:ln w="4763">
            <a:solidFill>
              <a:srgbClr val="4836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62723" y="1773734"/>
            <a:ext cx="1628105" cy="203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Ineffective Marketing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62723" y="2051670"/>
            <a:ext cx="3756422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Discounts and promo codes may not be working. Do discounts actually increase purchase value?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96119" y="2701305"/>
            <a:ext cx="4013895" cy="932334"/>
          </a:xfrm>
          <a:prstGeom prst="roundRect">
            <a:avLst>
              <a:gd name="adj" fmla="val 5588"/>
            </a:avLst>
          </a:prstGeom>
          <a:solidFill>
            <a:srgbClr val="2F1D63"/>
          </a:solidFill>
          <a:ln w="4763">
            <a:solidFill>
              <a:srgbClr val="48367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4855" y="2830041"/>
            <a:ext cx="1628105" cy="203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Product Demand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24855" y="3107978"/>
            <a:ext cx="3756422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categories perform best? Which products generate the highest revenue?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33987" y="2701305"/>
            <a:ext cx="4013895" cy="932334"/>
          </a:xfrm>
          <a:prstGeom prst="roundRect">
            <a:avLst>
              <a:gd name="adj" fmla="val 5588"/>
            </a:avLst>
          </a:prstGeom>
          <a:solidFill>
            <a:srgbClr val="2F1D63"/>
          </a:solidFill>
          <a:ln w="4763">
            <a:solidFill>
              <a:srgbClr val="4836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62723" y="2830041"/>
            <a:ext cx="1628105" cy="203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Payment Behavior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762723" y="3107978"/>
            <a:ext cx="3756422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payment methods are preferred? Are digital payments on the rise?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96119" y="3757613"/>
            <a:ext cx="4013895" cy="932334"/>
          </a:xfrm>
          <a:prstGeom prst="roundRect">
            <a:avLst>
              <a:gd name="adj" fmla="val 5588"/>
            </a:avLst>
          </a:prstGeom>
          <a:solidFill>
            <a:srgbClr val="2F1D63"/>
          </a:solidFill>
          <a:ln w="4763">
            <a:solidFill>
              <a:srgbClr val="483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4855" y="3886349"/>
            <a:ext cx="1628105" cy="203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Seasonal Variation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24855" y="4164285"/>
            <a:ext cx="3756422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season impact sales? Which season drives the maximum number of purchases?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33987" y="3757613"/>
            <a:ext cx="4013895" cy="932334"/>
          </a:xfrm>
          <a:prstGeom prst="roundRect">
            <a:avLst>
              <a:gd name="adj" fmla="val 5588"/>
            </a:avLst>
          </a:prstGeom>
          <a:solidFill>
            <a:srgbClr val="2F1D63"/>
          </a:solidFill>
          <a:ln w="4763">
            <a:solidFill>
              <a:srgbClr val="483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62723" y="3886349"/>
            <a:ext cx="1804392" cy="203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Customer Segmentation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762723" y="4164285"/>
            <a:ext cx="3756422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Identify high-value customers, frequent buyers, and discount-sensitive segments.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7336" y="316855"/>
            <a:ext cx="2493020" cy="3115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 Dictionary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827336" y="773832"/>
            <a:ext cx="7489254" cy="268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dataset spans 17 columns capturing customer demographics, transaction details, product attributes, and behavioral signals — enabling rich multi-dimensional analysis.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827336" y="1123801"/>
            <a:ext cx="7489254" cy="3702844"/>
          </a:xfrm>
          <a:prstGeom prst="roundRect">
            <a:avLst>
              <a:gd name="adj" fmla="val 1077"/>
            </a:avLst>
          </a:prstGeom>
          <a:noFill/>
          <a:ln w="4763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098" y="1128564"/>
            <a:ext cx="7479729" cy="23083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927125" y="1176933"/>
            <a:ext cx="167759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ID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2799383" y="1176933"/>
            <a:ext cx="5417493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Unique identifier for each customer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832098" y="1359396"/>
            <a:ext cx="7479729" cy="23083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927125" y="1407765"/>
            <a:ext cx="167759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 / Gender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2799383" y="1407765"/>
            <a:ext cx="5417493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age and gender (Male / Female / Other)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832098" y="1590229"/>
            <a:ext cx="7479729" cy="23083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927125" y="1638598"/>
            <a:ext cx="167759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Item Purchased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799383" y="1638598"/>
            <a:ext cx="5417493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 product purchased by the customer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832098" y="1821061"/>
            <a:ext cx="7479729" cy="23083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927125" y="1869430"/>
            <a:ext cx="167759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Category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799383" y="1869430"/>
            <a:ext cx="5417493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category: Clothing, Electronics, Accessories, Footwear, Outerwear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832098" y="2051893"/>
            <a:ext cx="7479729" cy="23083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927125" y="2100263"/>
            <a:ext cx="167759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Purchase Amount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2799383" y="2100263"/>
            <a:ext cx="5417493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amount spent by the customer in USD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832098" y="2282726"/>
            <a:ext cx="7479729" cy="23083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927125" y="2331095"/>
            <a:ext cx="167759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99383" y="2331095"/>
            <a:ext cx="5417493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Customer's geographic location (state)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832098" y="2513558"/>
            <a:ext cx="7479729" cy="23083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927125" y="2561927"/>
            <a:ext cx="167759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Size / Color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2799383" y="2561927"/>
            <a:ext cx="5417493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size (S, M, L, XL) and color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832098" y="2744391"/>
            <a:ext cx="7479729" cy="23083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927125" y="2792760"/>
            <a:ext cx="167759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Season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799383" y="2792760"/>
            <a:ext cx="5417493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Season of purchase: Winter, Spring, Summer, Fall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832098" y="2975223"/>
            <a:ext cx="7479729" cy="23083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927125" y="3023592"/>
            <a:ext cx="167759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Rating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799383" y="3023592"/>
            <a:ext cx="5417493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rating for the product (1–5 scale)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832098" y="3206055"/>
            <a:ext cx="7479729" cy="23083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927125" y="3254425"/>
            <a:ext cx="167759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Subscription Status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799383" y="3254425"/>
            <a:ext cx="5417493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Whether customer is subscribed (Yes / No)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832098" y="3436888"/>
            <a:ext cx="7479729" cy="23083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927125" y="3485257"/>
            <a:ext cx="167759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Shipping Type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799383" y="3485257"/>
            <a:ext cx="5417493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 of shipping selected (Standard, Express, etc.)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832098" y="3667720"/>
            <a:ext cx="7479729" cy="23083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927125" y="3716089"/>
            <a:ext cx="167759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Discount Applied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799383" y="3716089"/>
            <a:ext cx="5417493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Whether a discount was applied to the order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832098" y="3898553"/>
            <a:ext cx="7479729" cy="23083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927125" y="3946922"/>
            <a:ext cx="167759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 Code Used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799383" y="3946922"/>
            <a:ext cx="5417493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Whether a promo code was used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832098" y="4129385"/>
            <a:ext cx="7479729" cy="23083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927125" y="4177754"/>
            <a:ext cx="167759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Previous Purchases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2799383" y="4177754"/>
            <a:ext cx="5417493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Number of past purchases made by the customer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832098" y="4360218"/>
            <a:ext cx="7479729" cy="23083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927125" y="4408587"/>
            <a:ext cx="167759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Payment Method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2799383" y="4408587"/>
            <a:ext cx="5417493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 of payment: Cash, Credit Card, Debit Card, PayPal, etc.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832098" y="4591050"/>
            <a:ext cx="7479729" cy="23083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927125" y="4639419"/>
            <a:ext cx="167759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Frequency of Purchases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2799383" y="4639419"/>
            <a:ext cx="5417493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Purchase frequency: Weekly, Monthly, etc.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39840" y="330473"/>
            <a:ext cx="4893320" cy="674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EDA — Exploratory Data Analysis in Python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3839840" y="1132210"/>
            <a:ext cx="4893320" cy="300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0"/>
              </a:lnSpc>
              <a:buNone/>
            </a:pPr>
            <a:r>
              <a:rPr lang="en-US" sz="8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phase of analysis used Python and pandas to load, explore, and understand the raw data before any modeling or SQL queries were applied.</a:t>
            </a:r>
            <a:endParaRPr lang="en-US" sz="800" dirty="0"/>
          </a:p>
        </p:txBody>
      </p:sp>
      <p:sp>
        <p:nvSpPr>
          <p:cNvPr id="5" name="Shape 2"/>
          <p:cNvSpPr/>
          <p:nvPr/>
        </p:nvSpPr>
        <p:spPr>
          <a:xfrm>
            <a:off x="3839840" y="1528242"/>
            <a:ext cx="4893320" cy="758577"/>
          </a:xfrm>
          <a:prstGeom prst="roundRect">
            <a:avLst>
              <a:gd name="adj" fmla="val 9041"/>
            </a:avLst>
          </a:prstGeom>
          <a:solidFill>
            <a:srgbClr val="0C0524">
              <a:alpha val="95000"/>
            </a:srgbClr>
          </a:solidFill>
          <a:ln w="14288">
            <a:solidFill>
              <a:srgbClr val="48367C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5553" y="1528242"/>
            <a:ext cx="57150" cy="75857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999681" y="1645221"/>
            <a:ext cx="1348234" cy="168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 Loading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3999681" y="1864742"/>
            <a:ext cx="4616500" cy="305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0"/>
              </a:lnSpc>
              <a:buNone/>
            </a:pPr>
            <a:r>
              <a:rPr lang="en-US" sz="8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Imported pandas and loaded the CSV into a structured DataFrame using </a:t>
            </a:r>
            <a:r>
              <a:rPr lang="en-US" sz="800" dirty="0">
                <a:solidFill>
                  <a:srgbClr val="E0D6DE"/>
                </a:solidFill>
                <a:highlight>
                  <a:srgbClr val="19123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pd.read_csv()</a:t>
            </a:r>
            <a:r>
              <a:rPr lang="en-US" sz="8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enabling further transformations and analysis.</a:t>
            </a:r>
            <a:endParaRPr lang="en-US" sz="800" dirty="0"/>
          </a:p>
        </p:txBody>
      </p:sp>
      <p:sp>
        <p:nvSpPr>
          <p:cNvPr id="9" name="Shape 5"/>
          <p:cNvSpPr/>
          <p:nvPr/>
        </p:nvSpPr>
        <p:spPr>
          <a:xfrm>
            <a:off x="3839840" y="2371874"/>
            <a:ext cx="4893320" cy="758577"/>
          </a:xfrm>
          <a:prstGeom prst="roundRect">
            <a:avLst>
              <a:gd name="adj" fmla="val 9041"/>
            </a:avLst>
          </a:prstGeom>
          <a:solidFill>
            <a:srgbClr val="0C0524">
              <a:alpha val="95000"/>
            </a:srgbClr>
          </a:solidFill>
          <a:ln w="14288">
            <a:solidFill>
              <a:srgbClr val="48367C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5553" y="2371874"/>
            <a:ext cx="57150" cy="758577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999681" y="2488853"/>
            <a:ext cx="1348234" cy="168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Initial Exploration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3999681" y="2708374"/>
            <a:ext cx="4616500" cy="305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0"/>
              </a:lnSpc>
              <a:buNone/>
            </a:pPr>
            <a:r>
              <a:rPr lang="en-US" sz="8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</a:t>
            </a:r>
            <a:r>
              <a:rPr lang="en-US" sz="800" dirty="0">
                <a:solidFill>
                  <a:srgbClr val="E0D6DE"/>
                </a:solidFill>
                <a:highlight>
                  <a:srgbClr val="19123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df.head()</a:t>
            </a:r>
            <a:r>
              <a:rPr lang="en-US" sz="8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800" dirty="0">
                <a:solidFill>
                  <a:srgbClr val="E0D6DE"/>
                </a:solidFill>
                <a:highlight>
                  <a:srgbClr val="19123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df.tail()</a:t>
            </a:r>
            <a:r>
              <a:rPr lang="en-US" sz="8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800" dirty="0">
                <a:solidFill>
                  <a:srgbClr val="E0D6DE"/>
                </a:solidFill>
                <a:highlight>
                  <a:srgbClr val="19123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df.describe(include='all')</a:t>
            </a:r>
            <a:r>
              <a:rPr lang="en-US" sz="8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and </a:t>
            </a:r>
            <a:r>
              <a:rPr lang="en-US" sz="800" dirty="0">
                <a:solidFill>
                  <a:srgbClr val="E0D6DE"/>
                </a:solidFill>
                <a:highlight>
                  <a:srgbClr val="19123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df.info()</a:t>
            </a:r>
            <a:r>
              <a:rPr lang="en-US" sz="8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 understand data structure, types, and missing value patterns early.</a:t>
            </a:r>
            <a:endParaRPr lang="en-US" sz="800" dirty="0"/>
          </a:p>
        </p:txBody>
      </p:sp>
      <p:sp>
        <p:nvSpPr>
          <p:cNvPr id="13" name="Shape 8"/>
          <p:cNvSpPr/>
          <p:nvPr/>
        </p:nvSpPr>
        <p:spPr>
          <a:xfrm>
            <a:off x="3839840" y="3215506"/>
            <a:ext cx="4893320" cy="753814"/>
          </a:xfrm>
          <a:prstGeom prst="roundRect">
            <a:avLst>
              <a:gd name="adj" fmla="val 9098"/>
            </a:avLst>
          </a:prstGeom>
          <a:solidFill>
            <a:srgbClr val="0C0524">
              <a:alpha val="95000"/>
            </a:srgbClr>
          </a:solidFill>
          <a:ln w="14288">
            <a:solidFill>
              <a:srgbClr val="48367C"/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5553" y="3215506"/>
            <a:ext cx="57150" cy="75381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3999681" y="3332485"/>
            <a:ext cx="1348234" cy="168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Category Correction</a:t>
            </a:r>
            <a:endParaRPr lang="en-US" sz="1050" dirty="0"/>
          </a:p>
        </p:txBody>
      </p:sp>
      <p:sp>
        <p:nvSpPr>
          <p:cNvPr id="16" name="Text 10"/>
          <p:cNvSpPr/>
          <p:nvPr/>
        </p:nvSpPr>
        <p:spPr>
          <a:xfrm>
            <a:off x="3999681" y="3552006"/>
            <a:ext cx="4616500" cy="300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0"/>
              </a:lnSpc>
              <a:buNone/>
            </a:pPr>
            <a:r>
              <a:rPr lang="en-US" sz="8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Identified inconsistencies between </a:t>
            </a:r>
            <a:r>
              <a:rPr lang="en-US" sz="8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Item Purchased</a:t>
            </a:r>
            <a:r>
              <a:rPr lang="en-US" sz="8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</a:t>
            </a:r>
            <a:r>
              <a:rPr lang="en-US" sz="8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Category</a:t>
            </a:r>
            <a:r>
              <a:rPr lang="en-US" sz="8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columns. Created a mapping dictionary to standardize categories for accurate grouping and insights.</a:t>
            </a:r>
            <a:endParaRPr lang="en-US" sz="800" dirty="0"/>
          </a:p>
        </p:txBody>
      </p:sp>
      <p:sp>
        <p:nvSpPr>
          <p:cNvPr id="17" name="Shape 11"/>
          <p:cNvSpPr/>
          <p:nvPr/>
        </p:nvSpPr>
        <p:spPr>
          <a:xfrm>
            <a:off x="3839840" y="4054376"/>
            <a:ext cx="4893320" cy="758577"/>
          </a:xfrm>
          <a:prstGeom prst="roundRect">
            <a:avLst>
              <a:gd name="adj" fmla="val 9041"/>
            </a:avLst>
          </a:prstGeom>
          <a:solidFill>
            <a:srgbClr val="0C0524">
              <a:alpha val="95000"/>
            </a:srgbClr>
          </a:solidFill>
          <a:ln w="14288">
            <a:solidFill>
              <a:srgbClr val="48367C"/>
            </a:solidFill>
            <a:prstDash val="solid"/>
          </a:ln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5553" y="4054376"/>
            <a:ext cx="57150" cy="758577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999681" y="4171355"/>
            <a:ext cx="1523033" cy="168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Column Standardization</a:t>
            </a:r>
            <a:endParaRPr lang="en-US" sz="1050" dirty="0"/>
          </a:p>
        </p:txBody>
      </p:sp>
      <p:sp>
        <p:nvSpPr>
          <p:cNvPr id="20" name="Text 13"/>
          <p:cNvSpPr/>
          <p:nvPr/>
        </p:nvSpPr>
        <p:spPr>
          <a:xfrm>
            <a:off x="3999681" y="4390876"/>
            <a:ext cx="4616500" cy="305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0"/>
              </a:lnSpc>
              <a:buNone/>
            </a:pPr>
            <a:r>
              <a:rPr lang="en-US" sz="8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Renamed all columns to lowercase with underscores using </a:t>
            </a:r>
            <a:r>
              <a:rPr lang="en-US" sz="800" dirty="0">
                <a:solidFill>
                  <a:srgbClr val="E0D6DE"/>
                </a:solidFill>
                <a:highlight>
                  <a:srgbClr val="19123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str.replace(" ", "_")</a:t>
            </a:r>
            <a:r>
              <a:rPr lang="en-US" sz="8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</a:t>
            </a:r>
            <a:r>
              <a:rPr lang="en-US" sz="800" dirty="0">
                <a:solidFill>
                  <a:srgbClr val="E0D6DE"/>
                </a:solidFill>
                <a:highlight>
                  <a:srgbClr val="19123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str.lower()</a:t>
            </a:r>
            <a:r>
              <a:rPr lang="en-US" sz="8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making them SQL-friendly and Power BI-ready.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2901" y="345430"/>
            <a:ext cx="5447184" cy="387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0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Handling Missing Values &amp; Duplicates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72901" y="958676"/>
            <a:ext cx="8198197" cy="369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values were addressed with </a:t>
            </a:r>
            <a:r>
              <a:rPr lang="en-US" sz="9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category-specific business logic</a:t>
            </a: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rather than blanket imputation — demonstrating domain understanding and ensuring analytical accuracy.</a:t>
            </a:r>
            <a:endParaRPr lang="en-US" sz="9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2901" y="1454795"/>
            <a:ext cx="295573" cy="29557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72901" y="1891159"/>
            <a:ext cx="1551756" cy="193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Size Column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72901" y="2152650"/>
            <a:ext cx="4028703" cy="369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Electronics &amp; Accessories → </a:t>
            </a:r>
            <a:r>
              <a:rPr lang="en-US" sz="9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</a:t>
            </a: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(no size). Clothing → filled with </a:t>
            </a:r>
            <a:r>
              <a:rPr lang="en-US" sz="9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</a:t>
            </a: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Footwear → </a:t>
            </a:r>
            <a:r>
              <a:rPr lang="en-US" sz="9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Size</a:t>
            </a: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Category-aware logic preserves data integrity.</a:t>
            </a:r>
            <a:endParaRPr lang="en-US" sz="9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42396" y="1454795"/>
            <a:ext cx="295573" cy="29557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42396" y="1891159"/>
            <a:ext cx="1551756" cy="193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Review Rating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4642396" y="2152650"/>
            <a:ext cx="4028703" cy="554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ratings were imputed using the </a:t>
            </a:r>
            <a:r>
              <a:rPr lang="en-US" sz="9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product-level mean</a:t>
            </a: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(rounded), not the global average — keeping ratings realistic and meaningful for analysis.</a:t>
            </a:r>
            <a:endParaRPr lang="en-US" sz="9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2901" y="2932063"/>
            <a:ext cx="295573" cy="29557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72901" y="3368427"/>
            <a:ext cx="1551756" cy="193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Purchase Amount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472901" y="3629918"/>
            <a:ext cx="4028703" cy="369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values replaced with the </a:t>
            </a:r>
            <a:r>
              <a:rPr lang="en-US" sz="9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mean value</a:t>
            </a: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 maintain product-level pricing consistency and avoid distortion in revenue calculations.</a:t>
            </a:r>
            <a:endParaRPr lang="en-US" sz="9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42396" y="2932063"/>
            <a:ext cx="295573" cy="295573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642396" y="3368427"/>
            <a:ext cx="1551756" cy="193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Previous Purchases</a:t>
            </a:r>
            <a:endParaRPr lang="en-US" sz="1200" dirty="0"/>
          </a:p>
        </p:txBody>
      </p:sp>
      <p:sp>
        <p:nvSpPr>
          <p:cNvPr id="15" name="Text 9"/>
          <p:cNvSpPr/>
          <p:nvPr/>
        </p:nvSpPr>
        <p:spPr>
          <a:xfrm>
            <a:off x="4642396" y="3629918"/>
            <a:ext cx="4028703" cy="369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values replaced with </a:t>
            </a:r>
            <a:r>
              <a:rPr lang="en-US" sz="9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logically representing customers with no purchase history, critical for segmentation and loyalty analysis.</a:t>
            </a:r>
            <a:endParaRPr lang="en-US" sz="900" dirty="0"/>
          </a:p>
        </p:txBody>
      </p:sp>
      <p:sp>
        <p:nvSpPr>
          <p:cNvPr id="16" name="Shape 10"/>
          <p:cNvSpPr/>
          <p:nvPr/>
        </p:nvSpPr>
        <p:spPr>
          <a:xfrm>
            <a:off x="472901" y="4126037"/>
            <a:ext cx="8198197" cy="672033"/>
          </a:xfrm>
          <a:prstGeom prst="roundRect">
            <a:avLst>
              <a:gd name="adj" fmla="val 7389"/>
            </a:avLst>
          </a:prstGeom>
          <a:solidFill>
            <a:srgbClr val="1C113B"/>
          </a:solidFill>
          <a:ln/>
        </p:spPr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1071" y="4303663"/>
            <a:ext cx="147786" cy="11817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857027" y="4268242"/>
            <a:ext cx="7695902" cy="369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Duplicates were identified using </a:t>
            </a: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ID</a:t>
            </a:r>
            <a:r>
              <a:rPr lang="en-US" sz="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removed to ensure each customer appears only once — critical for accurate reporting and segmentation.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5162" y="328315"/>
            <a:ext cx="5173340" cy="3815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SQL Analysis — Revenue &amp; Discounts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65162" y="927869"/>
            <a:ext cx="8213675" cy="360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 cleaning, data was exported to SQL Server for query-based analysis. Key findings on revenue drivers, discount effectiveness, and customer spending patterns emerged.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65162" y="1519982"/>
            <a:ext cx="1866900" cy="1907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Category Revenue Ranking</a:t>
            </a:r>
            <a:endParaRPr lang="en-US" sz="1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162" y="1833339"/>
            <a:ext cx="3965004" cy="222036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5162" y="4176340"/>
            <a:ext cx="3965004" cy="360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Electronics dominates revenue at </a:t>
            </a:r>
            <a:r>
              <a:rPr lang="en-US" sz="9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$486K</a:t>
            </a: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nearly double the next category. Outerwear contributes the least at just $20K.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718596" y="1519982"/>
            <a:ext cx="2485951" cy="1907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Discount Impact on Purchase Value</a:t>
            </a:r>
            <a:endParaRPr lang="en-US" sz="12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8596" y="1833339"/>
            <a:ext cx="3965004" cy="222036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718596" y="4176340"/>
            <a:ext cx="3965004" cy="540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Discounts </a:t>
            </a:r>
            <a:r>
              <a:rPr lang="en-US" sz="9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reduce total revenue</a:t>
            </a: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but increase </a:t>
            </a:r>
            <a:r>
              <a:rPr lang="en-US" sz="9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average order value</a:t>
            </a: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by ~20% ($182 → $219). Discounts drive larger baskets but may erode margins.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7336" y="283369"/>
            <a:ext cx="5978426" cy="3115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SQL Analysis — Customer Segments &amp; Subscriptions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827336" y="740346"/>
            <a:ext cx="7489254" cy="268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segmentation by purchase frequency and subscription status reveals clear spending patterns — loyal and subscribed customers consistently outspend others.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827336" y="1163017"/>
            <a:ext cx="2310929" cy="155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Customer Segments by Purchase History</a:t>
            </a:r>
            <a:endParaRPr lang="en-US" sz="9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336" y="1400547"/>
            <a:ext cx="3628727" cy="203202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7336" y="3514353"/>
            <a:ext cx="3628727" cy="268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Loyal customers</a:t>
            </a:r>
            <a:r>
              <a:rPr lang="en-US" sz="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(61.7% of base) represent the largest segment. New customers are the smallest group — a growth opportunity.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4692551" y="1163017"/>
            <a:ext cx="1866602" cy="155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Subscription Status vs. Spending</a:t>
            </a:r>
            <a:endParaRPr lang="en-US" sz="9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2551" y="1400547"/>
            <a:ext cx="3628727" cy="203202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692551" y="3514353"/>
            <a:ext cx="3628727" cy="402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Subscribers spend </a:t>
            </a:r>
            <a:r>
              <a:rPr lang="en-US" sz="7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63% more per transaction</a:t>
            </a:r>
            <a:r>
              <a:rPr lang="en-US" sz="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($271 vs. $166). Repeat buyers are less likely to subscribe (30%) vs. normal buyers (37%) — an untapped conversion opportunity.</a:t>
            </a:r>
            <a:endParaRPr lang="en-US" sz="700" dirty="0"/>
          </a:p>
        </p:txBody>
      </p:sp>
      <p:sp>
        <p:nvSpPr>
          <p:cNvPr id="10" name="Text 6"/>
          <p:cNvSpPr/>
          <p:nvPr/>
        </p:nvSpPr>
        <p:spPr>
          <a:xfrm>
            <a:off x="827336" y="4111303"/>
            <a:ext cx="2435796" cy="3134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50"/>
              </a:lnSpc>
              <a:buNone/>
            </a:pPr>
            <a:r>
              <a:rPr lang="en-US" sz="24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3,085</a:t>
            </a:r>
            <a:endParaRPr lang="en-US" sz="2450" dirty="0"/>
          </a:p>
        </p:txBody>
      </p:sp>
      <p:sp>
        <p:nvSpPr>
          <p:cNvPr id="11" name="Text 7"/>
          <p:cNvSpPr/>
          <p:nvPr/>
        </p:nvSpPr>
        <p:spPr>
          <a:xfrm>
            <a:off x="1421978" y="4526682"/>
            <a:ext cx="1246510" cy="155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Loyal Customers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27336" y="4726037"/>
            <a:ext cx="2435796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61.7% of total customer base</a:t>
            </a:r>
            <a:endParaRPr lang="en-US" sz="700" dirty="0"/>
          </a:p>
        </p:txBody>
      </p:sp>
      <p:sp>
        <p:nvSpPr>
          <p:cNvPr id="13" name="Text 9"/>
          <p:cNvSpPr/>
          <p:nvPr/>
        </p:nvSpPr>
        <p:spPr>
          <a:xfrm>
            <a:off x="3353991" y="4111303"/>
            <a:ext cx="2435870" cy="3134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50"/>
              </a:lnSpc>
              <a:buNone/>
            </a:pPr>
            <a:r>
              <a:rPr lang="en-US" sz="24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$271</a:t>
            </a:r>
            <a:endParaRPr lang="en-US" sz="2450" dirty="0"/>
          </a:p>
        </p:txBody>
      </p:sp>
      <p:sp>
        <p:nvSpPr>
          <p:cNvPr id="14" name="Text 10"/>
          <p:cNvSpPr/>
          <p:nvPr/>
        </p:nvSpPr>
        <p:spPr>
          <a:xfrm>
            <a:off x="3936578" y="4526682"/>
            <a:ext cx="1270620" cy="155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Subscriber Avg. Spend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3353991" y="4726037"/>
            <a:ext cx="2435870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63% higher than non-subscribers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5880720" y="4111303"/>
            <a:ext cx="2435870" cy="3134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50"/>
              </a:lnSpc>
              <a:buNone/>
            </a:pPr>
            <a:r>
              <a:rPr lang="en-US" sz="24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30%</a:t>
            </a:r>
            <a:endParaRPr lang="en-US" sz="2450" dirty="0"/>
          </a:p>
        </p:txBody>
      </p:sp>
      <p:sp>
        <p:nvSpPr>
          <p:cNvPr id="17" name="Text 13"/>
          <p:cNvSpPr/>
          <p:nvPr/>
        </p:nvSpPr>
        <p:spPr>
          <a:xfrm>
            <a:off x="6340153" y="4526682"/>
            <a:ext cx="1517005" cy="155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Repeat Buyer Subscription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5880720" y="4726037"/>
            <a:ext cx="2435870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Conversion rate among loyal customers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349" y="418281"/>
            <a:ext cx="5771480" cy="3751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50"/>
              </a:lnSpc>
              <a:buNone/>
            </a:pPr>
            <a:r>
              <a:rPr lang="en-US" sz="235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Power BI Dashboard — Key Visual Insights</a:t>
            </a:r>
            <a:endParaRPr lang="en-US" sz="2350" dirty="0"/>
          </a:p>
        </p:txBody>
      </p:sp>
      <p:sp>
        <p:nvSpPr>
          <p:cNvPr id="3" name="Text 1"/>
          <p:cNvSpPr/>
          <p:nvPr/>
        </p:nvSpPr>
        <p:spPr>
          <a:xfrm>
            <a:off x="457349" y="1004292"/>
            <a:ext cx="8229302" cy="351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cleaned dataset was visualized in Power BI with interactive filters for Category, Gender, Discount, and Subscription — enabling drill-down exploration across all dimensions.</a:t>
            </a:r>
            <a:endParaRPr lang="en-US" sz="900" dirty="0"/>
          </a:p>
        </p:txBody>
      </p:sp>
      <p:sp>
        <p:nvSpPr>
          <p:cNvPr id="6" name="Shape 2"/>
          <p:cNvSpPr/>
          <p:nvPr/>
        </p:nvSpPr>
        <p:spPr>
          <a:xfrm>
            <a:off x="457349" y="3114377"/>
            <a:ext cx="4061966" cy="664815"/>
          </a:xfrm>
          <a:prstGeom prst="roundRect">
            <a:avLst>
              <a:gd name="adj" fmla="val 7224"/>
            </a:avLst>
          </a:prstGeom>
          <a:solidFill>
            <a:srgbClr val="2F1D63"/>
          </a:solidFill>
          <a:ln w="4763">
            <a:solidFill>
              <a:srgbClr val="48367C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76411" y="3233440"/>
            <a:ext cx="1500857" cy="187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Revenue by Gender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76411" y="3484290"/>
            <a:ext cx="3823841" cy="17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Other: </a:t>
            </a:r>
            <a:r>
              <a:rPr lang="en-US" sz="9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$391K (39.3%)</a:t>
            </a: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Male: $352K (35.4%) · Female: $251K (25.3%)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4624685" y="3114377"/>
            <a:ext cx="4061966" cy="664815"/>
          </a:xfrm>
          <a:prstGeom prst="roundRect">
            <a:avLst>
              <a:gd name="adj" fmla="val 7224"/>
            </a:avLst>
          </a:prstGeom>
          <a:solidFill>
            <a:srgbClr val="2F1D63"/>
          </a:solidFill>
          <a:ln w="4763">
            <a:solidFill>
              <a:srgbClr val="48367C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743748" y="3233440"/>
            <a:ext cx="1500857" cy="187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Revenue by Age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4743748" y="3484290"/>
            <a:ext cx="3823841" cy="17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51+: </a:t>
            </a:r>
            <a:r>
              <a:rPr lang="en-US" sz="9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$399K (40.2%)</a:t>
            </a: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35–50: $267K · 26–35: $177K · 18–25: $151K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457349" y="3884563"/>
            <a:ext cx="4061966" cy="840656"/>
          </a:xfrm>
          <a:prstGeom prst="roundRect">
            <a:avLst>
              <a:gd name="adj" fmla="val 5713"/>
            </a:avLst>
          </a:prstGeom>
          <a:solidFill>
            <a:srgbClr val="2F1D63"/>
          </a:solidFill>
          <a:ln w="4763">
            <a:solidFill>
              <a:srgbClr val="48367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76411" y="4003625"/>
            <a:ext cx="1500857" cy="187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Top Products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576411" y="4254475"/>
            <a:ext cx="3823841" cy="351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Headphones: </a:t>
            </a:r>
            <a:r>
              <a:rPr lang="en-US" sz="9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$138.9K</a:t>
            </a: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Phone: $125.6K · Bag: $120.7K · Laptop: $115.2K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4624685" y="3884563"/>
            <a:ext cx="4061966" cy="840656"/>
          </a:xfrm>
          <a:prstGeom prst="roundRect">
            <a:avLst>
              <a:gd name="adj" fmla="val 5713"/>
            </a:avLst>
          </a:prstGeom>
          <a:solidFill>
            <a:srgbClr val="2F1D63"/>
          </a:solidFill>
          <a:ln w="4763">
            <a:solidFill>
              <a:srgbClr val="48367C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743748" y="4003625"/>
            <a:ext cx="1500857" cy="187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Payment Methods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4743748" y="4254475"/>
            <a:ext cx="3823841" cy="17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Debit Card: </a:t>
            </a:r>
            <a:r>
              <a:rPr lang="en-US" sz="9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25.5%</a:t>
            </a:r>
            <a:r>
              <a:rPr lang="en-US" sz="9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Cash: 23.5% · Credit Card: 22.5% · PayPal: 20.9%</a:t>
            </a:r>
            <a:endParaRPr lang="en-US" sz="9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60DBE57A-6E56-CD5D-E8AC-34E8E3AA22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510" y="1419225"/>
            <a:ext cx="2876733" cy="1560217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FF62B57-794E-1807-1FC0-FDDD6560E8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391054"/>
            <a:ext cx="2876733" cy="15691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834256"/>
            <a:ext cx="5382518" cy="407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55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Key Takeaways &amp; Recommendations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496119" y="1489323"/>
            <a:ext cx="8151763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end-to-end analysis — from Python EDA to SQL queries to Power BI dashboards — delivers actionable insights for growing revenue, improving retention, and optimizing marketing spend.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96119" y="2025774"/>
            <a:ext cx="279053" cy="279053"/>
          </a:xfrm>
          <a:prstGeom prst="roundRect">
            <a:avLst>
              <a:gd name="adj" fmla="val 18670"/>
            </a:avLst>
          </a:prstGeom>
          <a:solidFill>
            <a:srgbClr val="2F1D63"/>
          </a:solidFill>
          <a:ln w="4763">
            <a:solidFill>
              <a:srgbClr val="48367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7976" y="2043224"/>
            <a:ext cx="195337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99145" y="2068413"/>
            <a:ext cx="2523381" cy="203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Electronics Is the Revenue Engine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99145" y="2346350"/>
            <a:ext cx="3595315" cy="595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Electronics generates nearly </a:t>
            </a:r>
            <a:r>
              <a:rPr lang="en-US" sz="95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$486K</a:t>
            </a:r>
            <a:r>
              <a:rPr lang="en-US" sz="9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double any other category. Prioritize inventory, promotions, and marketing budget toward this segment.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649465" y="2025774"/>
            <a:ext cx="279053" cy="279053"/>
          </a:xfrm>
          <a:prstGeom prst="roundRect">
            <a:avLst>
              <a:gd name="adj" fmla="val 18670"/>
            </a:avLst>
          </a:prstGeom>
          <a:solidFill>
            <a:srgbClr val="2F1D63"/>
          </a:solidFill>
          <a:ln w="4763">
            <a:solidFill>
              <a:srgbClr val="48367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91323" y="2043224"/>
            <a:ext cx="195337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52492" y="2068413"/>
            <a:ext cx="2904158" cy="203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Subscribers Are High-Value Customers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52492" y="2346350"/>
            <a:ext cx="3595390" cy="595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Subscribers spend </a:t>
            </a:r>
            <a:r>
              <a:rPr lang="en-US" sz="95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63% more per transaction</a:t>
            </a:r>
            <a:r>
              <a:rPr lang="en-US" sz="9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Launch targeted subscription conversion campaigns, especially for repeat buyers (only 30% subscribed).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96119" y="3189759"/>
            <a:ext cx="279053" cy="279053"/>
          </a:xfrm>
          <a:prstGeom prst="roundRect">
            <a:avLst>
              <a:gd name="adj" fmla="val 18670"/>
            </a:avLst>
          </a:prstGeom>
          <a:solidFill>
            <a:srgbClr val="2F1D63"/>
          </a:solidFill>
          <a:ln w="4763">
            <a:solidFill>
              <a:srgbClr val="48367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7976" y="3207209"/>
            <a:ext cx="195337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9145" y="3232398"/>
            <a:ext cx="3595315" cy="40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Discounts Increase Basket Size, Not Total Revenue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99145" y="3713857"/>
            <a:ext cx="3595315" cy="595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Discounted orders have a </a:t>
            </a:r>
            <a:r>
              <a:rPr lang="en-US" sz="95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average value</a:t>
            </a:r>
            <a:r>
              <a:rPr lang="en-US" sz="9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($219 vs. $182) but lower total revenue. Use discounts strategically to upsell, not blanket promotions.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49465" y="3189759"/>
            <a:ext cx="279053" cy="279053"/>
          </a:xfrm>
          <a:prstGeom prst="roundRect">
            <a:avLst>
              <a:gd name="adj" fmla="val 18670"/>
            </a:avLst>
          </a:prstGeom>
          <a:solidFill>
            <a:srgbClr val="2F1D63"/>
          </a:solidFill>
          <a:ln w="4763">
            <a:solidFill>
              <a:srgbClr val="483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91323" y="3207209"/>
            <a:ext cx="195337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52492" y="3232398"/>
            <a:ext cx="3060129" cy="203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Older Customers Drive the Most Revenue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52492" y="3510335"/>
            <a:ext cx="3595390" cy="595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</a:t>
            </a:r>
            <a:r>
              <a:rPr lang="en-US" sz="95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51+ age group</a:t>
            </a:r>
            <a:r>
              <a:rPr lang="en-US" sz="9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contributes 40% of total revenue. Tailor messaging, product recommendations, and loyalty programs to this high-value demographic.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1307</Words>
  <Application>Microsoft Office PowerPoint</Application>
  <PresentationFormat>On-screen Show (16:9)</PresentationFormat>
  <Paragraphs>139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Consolas</vt:lpstr>
      <vt:lpstr>Arial</vt:lpstr>
      <vt:lpstr>Petrona Bold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aman mishra</cp:lastModifiedBy>
  <cp:revision>2</cp:revision>
  <dcterms:created xsi:type="dcterms:W3CDTF">2026-05-15T13:54:01Z</dcterms:created>
  <dcterms:modified xsi:type="dcterms:W3CDTF">2026-06-28T11:23:50Z</dcterms:modified>
</cp:coreProperties>
</file>